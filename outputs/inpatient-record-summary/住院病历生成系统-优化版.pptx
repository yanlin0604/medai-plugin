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bar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eyebrow"/>
          <p:cNvSpPr/>
          <p:nvPr/>
        </p:nvSpPr>
        <p:spPr>
          <a:xfrm>
            <a:off x="749808" y="67665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2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2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itle"/>
          <p:cNvSpPr/>
          <p:nvPr/>
        </p:nvSpPr>
        <p:spPr>
          <a:xfrm>
            <a:off x="749808" y="1005840"/>
            <a:ext cx="53035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3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住院病历生成系统</a:t>
            </a:r>
            <a:endParaRPr lang="zh-CN" sz="32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subtitle"/>
          <p:cNvSpPr/>
          <p:nvPr/>
        </p:nvSpPr>
        <p:spPr>
          <a:xfrm>
            <a:off x="768096" y="2176272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AI智能病历书写助手 · 阶段性总结</a:t>
            </a:r>
            <a:endParaRPr lang="zh-CN" sz="15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desc"/>
          <p:cNvSpPr/>
          <p:nvPr/>
        </p:nvSpPr>
        <p:spPr>
          <a:xfrm>
            <a:off x="768096" y="2697480"/>
            <a:ext cx="5303520" cy="603504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围绕住院部医生真实工作流，把病历模板、语音、AI生成、审核回写和版本留痕串成闭环。</a:t>
            </a:r>
            <a:endParaRPr lang="zh-CN"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card"/>
          <p:cNvSpPr/>
          <p:nvPr/>
        </p:nvSpPr>
        <p:spPr>
          <a:xfrm>
            <a:off x="6583680" y="841248"/>
            <a:ext cx="45262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9" name="card_title"/>
          <p:cNvSpPr/>
          <p:nvPr/>
        </p:nvSpPr>
        <p:spPr>
          <a:xfrm>
            <a:off x="6858000" y="1097280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6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本阶段已形成的能力</a:t>
            </a:r>
            <a:endParaRPr lang="zh-CN" sz="16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metric"/>
          <p:cNvSpPr/>
          <p:nvPr/>
        </p:nvSpPr>
        <p:spPr>
          <a:xfrm>
            <a:off x="6839712" y="1572768"/>
            <a:ext cx="1188720" cy="102412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</p:sp>
      <p:sp>
        <p:nvSpPr>
          <p:cNvPr id="21" name="metric_num"/>
          <p:cNvSpPr/>
          <p:nvPr/>
        </p:nvSpPr>
        <p:spPr>
          <a:xfrm>
            <a:off x="6976872" y="1737360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15+</a:t>
            </a:r>
            <a:endParaRPr lang="zh-CN"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metric_label"/>
          <p:cNvSpPr/>
          <p:nvPr/>
        </p:nvSpPr>
        <p:spPr>
          <a:xfrm>
            <a:off x="7004304" y="2231136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文书覆盖</a:t>
            </a:r>
            <a:endParaRPr lang="zh-CN" sz="10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metric"/>
          <p:cNvSpPr/>
          <p:nvPr/>
        </p:nvSpPr>
        <p:spPr>
          <a:xfrm>
            <a:off x="8165592" y="1572768"/>
            <a:ext cx="1188720" cy="102412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FFFFF"/>
            </a:solidFill>
          </a:ln>
        </p:spPr>
      </p:sp>
      <p:sp>
        <p:nvSpPr>
          <p:cNvPr id="31" name="metric_num"/>
          <p:cNvSpPr/>
          <p:nvPr/>
        </p:nvSpPr>
        <p:spPr>
          <a:xfrm>
            <a:off x="8302752" y="1737360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4类</a:t>
            </a:r>
            <a:endParaRPr lang="zh-CN" sz="24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metric_label"/>
          <p:cNvSpPr/>
          <p:nvPr/>
        </p:nvSpPr>
        <p:spPr>
          <a:xfrm>
            <a:off x="8330184" y="2231136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交互范式</a:t>
            </a:r>
            <a:endParaRPr lang="zh-CN" sz="10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metric"/>
          <p:cNvSpPr/>
          <p:nvPr/>
        </p:nvSpPr>
        <p:spPr>
          <a:xfrm>
            <a:off x="9491472" y="1572768"/>
            <a:ext cx="1188720" cy="102412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FFFFFF"/>
            </a:solidFill>
          </a:ln>
        </p:spPr>
      </p:sp>
      <p:sp>
        <p:nvSpPr>
          <p:cNvPr id="41" name="metric_num"/>
          <p:cNvSpPr/>
          <p:nvPr/>
        </p:nvSpPr>
        <p:spPr>
          <a:xfrm>
            <a:off x="9628632" y="1737360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闭环</a:t>
            </a:r>
            <a:endParaRPr lang="zh-CN" sz="24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metric_label"/>
          <p:cNvSpPr/>
          <p:nvPr/>
        </p:nvSpPr>
        <p:spPr>
          <a:xfrm>
            <a:off x="9656064" y="2231136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生成到回写</a:t>
            </a:r>
            <a:endParaRPr lang="zh-CN" sz="10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bullet"/>
          <p:cNvSpPr/>
          <p:nvPr/>
        </p:nvSpPr>
        <p:spPr>
          <a:xfrm>
            <a:off x="6876288" y="2971800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入院/出院工作台可用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字段级 AI 生成与改写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查房、手术语音链路已接入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防串户、版本与写回已落地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ag"/>
          <p:cNvSpPr/>
          <p:nvPr/>
        </p:nvSpPr>
        <p:spPr>
          <a:xfrm>
            <a:off x="6839712" y="4773168"/>
            <a:ext cx="3977640" cy="47548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阶段状态：可演示闭环，正在走向院内部署闭环</a:t>
            </a:r>
            <a:endParaRPr lang="zh-CN" sz="13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一、项目定位与价值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系统不是单纯的“AI写病历”按钮，而是面向住院医生的文书工作台。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left"/>
          <p:cNvSpPr/>
          <p:nvPr/>
        </p:nvSpPr>
        <p:spPr>
          <a:xfrm>
            <a:off x="731520" y="1645920"/>
            <a:ext cx="3931920" cy="3749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21" name="ltitle"/>
          <p:cNvSpPr/>
          <p:nvPr/>
        </p:nvSpPr>
        <p:spPr>
          <a:xfrm>
            <a:off x="987552" y="190195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8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项目定位</a:t>
            </a:r>
            <a:endParaRPr lang="zh-CN" sz="18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lbody"/>
          <p:cNvSpPr/>
          <p:nvPr/>
        </p:nvSpPr>
        <p:spPr>
          <a:xfrm>
            <a:off x="987552" y="2395728"/>
            <a:ext cx="3291840" cy="256032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面向医院住院部医生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嵌入 HIS / EMR 侧边栏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以住院文书生成与回写为核心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覆盖入院、出院、查房、手术等高频场景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v1"/>
          <p:cNvSpPr/>
          <p:nvPr/>
        </p:nvSpPr>
        <p:spPr>
          <a:xfrm>
            <a:off x="5074920" y="1700784"/>
            <a:ext cx="1965960" cy="157276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7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提效</a:t>
            </a:r>
            <a:endParaRPr lang="zh-CN" sz="17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减少重复录入</a:t>
            </a:r>
            <a:endParaRPr lang="zh-CN" sz="17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让医生把时间留给判断</a:t>
            </a:r>
            <a:endParaRPr lang="zh-CN" sz="17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v2"/>
          <p:cNvSpPr/>
          <p:nvPr/>
        </p:nvSpPr>
        <p:spPr>
          <a:xfrm>
            <a:off x="7269480" y="1700784"/>
            <a:ext cx="1965960" cy="157276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7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规范</a:t>
            </a:r>
            <a:endParaRPr lang="zh-CN" sz="17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模板驱动</a:t>
            </a:r>
            <a:endParaRPr lang="zh-CN" sz="17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减少字段缺项与写法漂移</a:t>
            </a:r>
            <a:endParaRPr lang="zh-CN" sz="17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v3"/>
          <p:cNvSpPr/>
          <p:nvPr/>
        </p:nvSpPr>
        <p:spPr>
          <a:xfrm>
            <a:off x="9464040" y="1700784"/>
            <a:ext cx="1828800" cy="157276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7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可追溯</a:t>
            </a:r>
            <a:endParaRPr lang="zh-CN" sz="17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版本留痕</a:t>
            </a:r>
            <a:endParaRPr lang="zh-CN" sz="17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回写过程有据可查</a:t>
            </a:r>
            <a:endParaRPr lang="zh-CN" sz="17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strip"/>
          <p:cNvSpPr/>
          <p:nvPr/>
        </p:nvSpPr>
        <p:spPr>
          <a:xfrm>
            <a:off x="5074920" y="3749040"/>
            <a:ext cx="6217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5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价值判断</a:t>
            </a:r>
            <a:endParaRPr lang="zh-CN" sz="15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lang="zh-CN" sz="15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把病历生成从“单次文本生产”提升为“数据拉取 - AI生成 - 医生编辑 - 安全回写 - 历史版本”的连续工作流。</a:t>
            </a:r>
            <a:endParaRPr lang="zh-CN" sz="15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二、核心功能模块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系统已经按住院病历的实际任务拆成可复用模块。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card"/>
          <p:cNvSpPr/>
          <p:nvPr>
            <p:custDataLst>
              <p:tags r:id="rId1"/>
            </p:custDataLst>
          </p:nvPr>
        </p:nvSpPr>
        <p:spPr>
          <a:xfrm>
            <a:off x="731520" y="1682496"/>
            <a:ext cx="4572000" cy="1554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</p:sp>
      <p:sp>
        <p:nvSpPr>
          <p:cNvPr id="21" name="title"/>
          <p:cNvSpPr/>
          <p:nvPr>
            <p:custDataLst>
              <p:tags r:id="rId2"/>
            </p:custDataLst>
          </p:nvPr>
        </p:nvSpPr>
        <p:spPr>
          <a:xfrm>
            <a:off x="932688" y="183794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文书注册与模板</a:t>
            </a:r>
            <a:endParaRPr lang="zh-CN" sz="16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body"/>
          <p:cNvSpPr/>
          <p:nvPr>
            <p:custDataLst>
              <p:tags r:id="rId3"/>
            </p:custDataLst>
          </p:nvPr>
        </p:nvSpPr>
        <p:spPr>
          <a:xfrm>
            <a:off x="932688" y="2249424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按 docCode 统一注册文书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支持时限必填、按需病程、事件文书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模板和字段 schema 可配置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card"/>
          <p:cNvSpPr/>
          <p:nvPr>
            <p:custDataLst>
              <p:tags r:id="rId4"/>
            </p:custDataLst>
          </p:nvPr>
        </p:nvSpPr>
        <p:spPr>
          <a:xfrm>
            <a:off x="6126480" y="1682496"/>
            <a:ext cx="4572000" cy="1554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FFFFFF"/>
            </a:solidFill>
          </a:ln>
        </p:spPr>
      </p:sp>
      <p:sp>
        <p:nvSpPr>
          <p:cNvPr id="31" name="title"/>
          <p:cNvSpPr/>
          <p:nvPr>
            <p:custDataLst>
              <p:tags r:id="rId5"/>
            </p:custDataLst>
          </p:nvPr>
        </p:nvSpPr>
        <p:spPr>
          <a:xfrm>
            <a:off x="6327648" y="183794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6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AI 生成与编辑</a:t>
            </a:r>
            <a:endParaRPr lang="zh-CN" sz="16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body"/>
          <p:cNvSpPr/>
          <p:nvPr>
            <p:custDataLst>
              <p:tags r:id="rId6"/>
            </p:custDataLst>
          </p:nvPr>
        </p:nvSpPr>
        <p:spPr>
          <a:xfrm>
            <a:off x="6327648" y="2249424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整篇生成、单字段生成、选区改写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段落编辑、纸面预览、组合字段可拆分后逐项处理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card"/>
          <p:cNvSpPr/>
          <p:nvPr>
            <p:custDataLst>
              <p:tags r:id="rId7"/>
            </p:custDataLst>
          </p:nvPr>
        </p:nvSpPr>
        <p:spPr>
          <a:xfrm>
            <a:off x="731520" y="3648456"/>
            <a:ext cx="4572000" cy="15544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FFFFF"/>
            </a:solidFill>
          </a:ln>
        </p:spPr>
      </p:sp>
      <p:sp>
        <p:nvSpPr>
          <p:cNvPr id="41" name="title"/>
          <p:cNvSpPr/>
          <p:nvPr>
            <p:custDataLst>
              <p:tags r:id="rId8"/>
            </p:custDataLst>
          </p:nvPr>
        </p:nvSpPr>
        <p:spPr>
          <a:xfrm>
            <a:off x="932688" y="380390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6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语音采集与路由</a:t>
            </a:r>
            <a:endParaRPr lang="zh-CN" sz="16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body"/>
          <p:cNvSpPr/>
          <p:nvPr>
            <p:custDataLst>
              <p:tags r:id="rId9"/>
            </p:custDataLst>
          </p:nvPr>
        </p:nvSpPr>
        <p:spPr>
          <a:xfrm>
            <a:off x="932688" y="4215384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入院语音建档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查房实时录音与床号路由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手术录音分片上传、合并、转写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card"/>
          <p:cNvSpPr/>
          <p:nvPr>
            <p:custDataLst>
              <p:tags r:id="rId10"/>
            </p:custDataLst>
          </p:nvPr>
        </p:nvSpPr>
        <p:spPr>
          <a:xfrm>
            <a:off x="6126480" y="3648456"/>
            <a:ext cx="4572000" cy="1554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FFFFF"/>
            </a:solidFill>
          </a:ln>
        </p:spPr>
      </p:sp>
      <p:sp>
        <p:nvSpPr>
          <p:cNvPr id="51" name="title"/>
          <p:cNvSpPr/>
          <p:nvPr>
            <p:custDataLst>
              <p:tags r:id="rId11"/>
            </p:custDataLst>
          </p:nvPr>
        </p:nvSpPr>
        <p:spPr>
          <a:xfrm>
            <a:off x="6327648" y="380390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6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回写与版本管理</a:t>
            </a:r>
            <a:endParaRPr lang="zh-CN" sz="16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body"/>
          <p:cNvSpPr/>
          <p:nvPr>
            <p:custDataLst>
              <p:tags r:id="rId12"/>
            </p:custDataLst>
          </p:nvPr>
        </p:nvSpPr>
        <p:spPr>
          <a:xfrm>
            <a:off x="6327648" y="4215384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一键回写到宿主系统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防串户锁定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提交后生成历史版本和变更摘要</a:t>
            </a:r>
            <a:endParaRPr lang="zh-CN"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三、核心亮点与技术创新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亮点不在“会生成”，而在生成过程被拆成了可控、可扩展、可审计的结构。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card"/>
          <p:cNvSpPr/>
          <p:nvPr/>
        </p:nvSpPr>
        <p:spPr>
          <a:xfrm>
            <a:off x="749808" y="1737360"/>
            <a:ext cx="3182112" cy="3246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</p:sp>
      <p:sp>
        <p:nvSpPr>
          <p:cNvPr id="21" name="title"/>
          <p:cNvSpPr/>
          <p:nvPr/>
        </p:nvSpPr>
        <p:spPr>
          <a:xfrm>
            <a:off x="932688" y="1920240"/>
            <a:ext cx="27066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7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范式驱动</a:t>
            </a:r>
            <a:endParaRPr lang="zh-CN" sz="17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body"/>
          <p:cNvSpPr/>
          <p:nvPr/>
        </p:nvSpPr>
        <p:spPr>
          <a:xfrm>
            <a:off x="969264" y="2487168"/>
            <a:ext cx="2724912" cy="164592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将 15 类文书按 4 类交互范式组织，文书与容器解耦。新增文书更偏配置扩展，而不是改主流程。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card"/>
          <p:cNvSpPr/>
          <p:nvPr/>
        </p:nvSpPr>
        <p:spPr>
          <a:xfrm>
            <a:off x="4517136" y="1737360"/>
            <a:ext cx="3182112" cy="32461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FFFFFF"/>
            </a:solidFill>
          </a:ln>
        </p:spPr>
      </p:sp>
      <p:sp>
        <p:nvSpPr>
          <p:cNvPr id="31" name="title"/>
          <p:cNvSpPr/>
          <p:nvPr/>
        </p:nvSpPr>
        <p:spPr>
          <a:xfrm>
            <a:off x="4700016" y="1920240"/>
            <a:ext cx="27066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7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字段级智能</a:t>
            </a:r>
            <a:endParaRPr lang="zh-CN" sz="17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body"/>
          <p:cNvSpPr/>
          <p:nvPr/>
        </p:nvSpPr>
        <p:spPr>
          <a:xfrm>
            <a:off x="4736592" y="2487168"/>
            <a:ext cx="2724912" cy="164592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既支持整篇生成，也支持当前字段、组合子项、选区改写，适合临床医生逐段核对的真实习惯。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card"/>
          <p:cNvSpPr/>
          <p:nvPr/>
        </p:nvSpPr>
        <p:spPr>
          <a:xfrm>
            <a:off x="8284464" y="1737360"/>
            <a:ext cx="3182112" cy="32461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FFFFF"/>
            </a:solidFill>
          </a:ln>
        </p:spPr>
      </p:sp>
      <p:sp>
        <p:nvSpPr>
          <p:cNvPr id="41" name="title"/>
          <p:cNvSpPr/>
          <p:nvPr/>
        </p:nvSpPr>
        <p:spPr>
          <a:xfrm>
            <a:off x="8467344" y="1920240"/>
            <a:ext cx="27066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7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安全闭环</a:t>
            </a:r>
            <a:endParaRPr lang="zh-CN" sz="17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body"/>
          <p:cNvSpPr/>
          <p:nvPr/>
        </p:nvSpPr>
        <p:spPr>
          <a:xfrm>
            <a:off x="8503920" y="2487168"/>
            <a:ext cx="2724912" cy="164592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防串户锁、证据引用、版本留痕、提交确认都进入主链路，避免 AI 直接覆盖医生工作结果。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footer"/>
          <p:cNvSpPr/>
          <p:nvPr/>
        </p:nvSpPr>
        <p:spPr>
          <a:xfrm>
            <a:off x="786384" y="5413248"/>
            <a:ext cx="102870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技术创新的核心，是把 AI 从“生成结果”转向“生成过程可控”。这让系统更接近院内可用的生产工具，而不是单次演示工具。</a:t>
            </a:r>
            <a:endParaRPr lang="zh-CN"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四、阶段性成果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当前已形成可演示、可联调的工程基础。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metric"/>
          <p:cNvSpPr/>
          <p:nvPr/>
        </p:nvSpPr>
        <p:spPr>
          <a:xfrm>
            <a:off x="749808" y="1627632"/>
            <a:ext cx="1737360" cy="1097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</p:sp>
      <p:sp>
        <p:nvSpPr>
          <p:cNvPr id="21" name="metric_num"/>
          <p:cNvSpPr/>
          <p:nvPr/>
        </p:nvSpPr>
        <p:spPr>
          <a:xfrm>
            <a:off x="886968" y="1792224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15+</a:t>
            </a:r>
            <a:endParaRPr lang="zh-CN"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metric_label"/>
          <p:cNvSpPr/>
          <p:nvPr/>
        </p:nvSpPr>
        <p:spPr>
          <a:xfrm>
            <a:off x="914400" y="2286000"/>
            <a:ext cx="14081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文书注册</a:t>
            </a:r>
            <a:endParaRPr lang="zh-CN" sz="10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metric"/>
          <p:cNvSpPr/>
          <p:nvPr/>
        </p:nvSpPr>
        <p:spPr>
          <a:xfrm>
            <a:off x="2670048" y="1627632"/>
            <a:ext cx="1737360" cy="1097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FFFFF"/>
            </a:solidFill>
          </a:ln>
        </p:spPr>
      </p:sp>
      <p:sp>
        <p:nvSpPr>
          <p:cNvPr id="31" name="metric_num"/>
          <p:cNvSpPr/>
          <p:nvPr/>
        </p:nvSpPr>
        <p:spPr>
          <a:xfrm>
            <a:off x="2807208" y="1792224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4类</a:t>
            </a:r>
            <a:endParaRPr lang="zh-CN" sz="24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metric_label"/>
          <p:cNvSpPr/>
          <p:nvPr/>
        </p:nvSpPr>
        <p:spPr>
          <a:xfrm>
            <a:off x="2834640" y="2286000"/>
            <a:ext cx="14081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交互范式</a:t>
            </a:r>
            <a:endParaRPr lang="zh-CN" sz="10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metric"/>
          <p:cNvSpPr/>
          <p:nvPr/>
        </p:nvSpPr>
        <p:spPr>
          <a:xfrm>
            <a:off x="4590288" y="1627632"/>
            <a:ext cx="1737360" cy="10972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FFFFFF"/>
            </a:solidFill>
          </a:ln>
        </p:spPr>
      </p:sp>
      <p:sp>
        <p:nvSpPr>
          <p:cNvPr id="41" name="metric_num"/>
          <p:cNvSpPr/>
          <p:nvPr/>
        </p:nvSpPr>
        <p:spPr>
          <a:xfrm>
            <a:off x="4727448" y="1792224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23个</a:t>
            </a:r>
            <a:endParaRPr lang="zh-CN" sz="24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metric_label"/>
          <p:cNvSpPr/>
          <p:nvPr/>
        </p:nvSpPr>
        <p:spPr>
          <a:xfrm>
            <a:off x="4754880" y="2286000"/>
            <a:ext cx="14081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单测文件</a:t>
            </a:r>
            <a:endParaRPr lang="zh-CN" sz="10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metric"/>
          <p:cNvSpPr/>
          <p:nvPr/>
        </p:nvSpPr>
        <p:spPr>
          <a:xfrm>
            <a:off x="6510528" y="1627632"/>
            <a:ext cx="173736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FFFFF"/>
            </a:solidFill>
          </a:ln>
        </p:spPr>
      </p:sp>
      <p:sp>
        <p:nvSpPr>
          <p:cNvPr id="51" name="metric_num"/>
          <p:cNvSpPr/>
          <p:nvPr/>
        </p:nvSpPr>
        <p:spPr>
          <a:xfrm>
            <a:off x="6647688" y="1792224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可回写</a:t>
            </a:r>
            <a:endParaRPr lang="zh-CN" sz="24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metric_label"/>
          <p:cNvSpPr/>
          <p:nvPr/>
        </p:nvSpPr>
        <p:spPr>
          <a:xfrm>
            <a:off x="6675120" y="2286000"/>
            <a:ext cx="14081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闭环流程</a:t>
            </a:r>
            <a:endParaRPr lang="zh-CN" sz="10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left"/>
          <p:cNvSpPr/>
          <p:nvPr/>
        </p:nvSpPr>
        <p:spPr>
          <a:xfrm>
            <a:off x="749935" y="3063240"/>
            <a:ext cx="3429000" cy="261937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入院记录工作台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出院记录工作台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字段助手与组合字段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查房 / 手术语音链路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版本与回写机制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mid"/>
          <p:cNvSpPr/>
          <p:nvPr/>
        </p:nvSpPr>
        <p:spPr>
          <a:xfrm>
            <a:off x="4352290" y="3063240"/>
            <a:ext cx="3429000" cy="25527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已联通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HIS / EMR 上下文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模板与值生成接口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证据引用和审计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防串户状态检查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ight"/>
          <p:cNvSpPr/>
          <p:nvPr/>
        </p:nvSpPr>
        <p:spPr>
          <a:xfrm>
            <a:off x="7955280" y="3063240"/>
            <a:ext cx="3063240" cy="25425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待补齐</a:t>
            </a: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生产级 ASR 稳定性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真实院内接口联调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质控规则库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• 安装部署与回归测试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</a:t>
            </a:r>
            <a:r>
              <a:rPr lang="en-US" alt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查房功能整体流程还有待测试</a:t>
            </a:r>
            <a:endParaRPr lang="zh-CN" altLang="en-US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</a:t>
            </a:r>
            <a:r>
              <a:rPr lang="en-US" alt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手术记录</a:t>
            </a:r>
            <a:br>
              <a:rPr lang="zh-CN" altLang="en-US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</a:t>
            </a:r>
            <a:r>
              <a:rPr lang="en-US" alt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OCR</a:t>
            </a:r>
            <a:r>
              <a:rPr lang="zh-CN" altLang="en-US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识别，外院资料上传</a:t>
            </a:r>
            <a:endParaRPr lang="zh-CN" altLang="en-US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阶段总结</a:t>
            </a:r>
            <a:endParaRPr lang="zh-CN" sz="11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itle"/>
          <p:cNvSpPr/>
          <p:nvPr/>
        </p:nvSpPr>
        <p:spPr>
          <a:xfrm>
            <a:off x="475488" y="512064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</a:rPr>
              <a:t>五、下一步规划</a:t>
            </a:r>
            <a:endParaRPr 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502920" y="987552"/>
            <a:ext cx="8961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下一阶段重点是从“可演示”走向“可试点、可落地”。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ule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card"/>
          <p:cNvSpPr/>
          <p:nvPr/>
        </p:nvSpPr>
        <p:spPr>
          <a:xfrm>
            <a:off x="749808" y="1737360"/>
            <a:ext cx="3182112" cy="3520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</p:sp>
      <p:sp>
        <p:nvSpPr>
          <p:cNvPr id="21" name="title"/>
          <p:cNvSpPr/>
          <p:nvPr/>
        </p:nvSpPr>
        <p:spPr>
          <a:xfrm>
            <a:off x="914400" y="19019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第一步：接口落地</a:t>
            </a:r>
            <a:endParaRPr lang="zh-CN" sz="16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body"/>
          <p:cNvSpPr/>
          <p:nvPr/>
        </p:nvSpPr>
        <p:spPr>
          <a:xfrm>
            <a:off x="950976" y="2633472"/>
            <a:ext cx="2724912" cy="169164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接真实 HIS / EMR / LIS / PACS 数据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打通患者上下文、诊断、费用、签名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优先覆盖入院与出院高频文书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card"/>
          <p:cNvSpPr/>
          <p:nvPr/>
        </p:nvSpPr>
        <p:spPr>
          <a:xfrm>
            <a:off x="4517136" y="1737360"/>
            <a:ext cx="3182112" cy="3520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FFFFFF"/>
            </a:solidFill>
          </a:ln>
        </p:spPr>
      </p:sp>
      <p:sp>
        <p:nvSpPr>
          <p:cNvPr id="31" name="title"/>
          <p:cNvSpPr/>
          <p:nvPr/>
        </p:nvSpPr>
        <p:spPr>
          <a:xfrm>
            <a:off x="4681728" y="19019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600" b="1">
                <a:solidFill>
                  <a:srgbClr val="6D28D9"/>
                </a:solidFill>
                <a:latin typeface="微软雅黑" panose="020B0503020204020204" charset="-122"/>
                <a:ea typeface="微软雅黑" panose="020B0503020204020204" charset="-122"/>
              </a:rPr>
              <a:t>第二步：能力增强</a:t>
            </a:r>
            <a:endParaRPr lang="zh-CN" sz="1600" b="1">
              <a:solidFill>
                <a:srgbClr val="6D28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body"/>
          <p:cNvSpPr/>
          <p:nvPr/>
        </p:nvSpPr>
        <p:spPr>
          <a:xfrm>
            <a:off x="4718304" y="2633472"/>
            <a:ext cx="2724912" cy="169164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补齐稳定 ASR 与字段抽取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完善质控规则和 ICD 推荐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增强组合字段与证据链能力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card"/>
          <p:cNvSpPr/>
          <p:nvPr/>
        </p:nvSpPr>
        <p:spPr>
          <a:xfrm>
            <a:off x="8284464" y="1737360"/>
            <a:ext cx="3182112" cy="35204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FFFFF"/>
            </a:solidFill>
          </a:ln>
        </p:spPr>
      </p:sp>
      <p:sp>
        <p:nvSpPr>
          <p:cNvPr id="41" name="title"/>
          <p:cNvSpPr/>
          <p:nvPr/>
        </p:nvSpPr>
        <p:spPr>
          <a:xfrm>
            <a:off x="8449056" y="190195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6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第三步：院内试点</a:t>
            </a:r>
            <a:endParaRPr lang="zh-CN" sz="16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body"/>
          <p:cNvSpPr/>
          <p:nvPr/>
        </p:nvSpPr>
        <p:spPr>
          <a:xfrm>
            <a:off x="8485632" y="2633472"/>
            <a:ext cx="2724912" cy="1691640"/>
          </a:xfrm>
          <a:prstGeom prst="rect">
            <a:avLst/>
          </a:prstGeom>
          <a:noFill/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选 2-3 个高频文书先试点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按科室模板和指标验收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形成医生反馈与迭代闭环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footer"/>
          <p:cNvSpPr/>
          <p:nvPr/>
        </p:nvSpPr>
        <p:spPr>
          <a:xfrm>
            <a:off x="786384" y="5486400"/>
            <a:ext cx="10332720" cy="47548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txBody>
          <a:bodyPr wrap="square" lIns="114300" tIns="114300" rIns="114300" bIns="114300" anchor="ctr"/>
          <a:lstStyle/>
          <a:p>
            <a:pPr algn="l"/>
            <a:r>
              <a:rPr lang="zh-CN" sz="130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</a:rPr>
              <a:t>建议把阶段目标定义为：在 2-3 个文书场景里完成真实接口试点，形成可度量、可复盘的院内应用闭环。</a:t>
            </a:r>
            <a:endParaRPr lang="zh-CN" sz="130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ags/tag2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ags/tag3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ags/tag4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ags/tag5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ags/tag6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ags/tag7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ags/tag8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ags/tag9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ags/tag10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ags/tag11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ags/tag12.xml><?xml version="1.0" encoding="utf-8"?>
<p:tagLst xmlns:p="http://schemas.openxmlformats.org/presentationml/2006/main">
  <p:tag name="KSO_WM_DIAGRAM_VIRTUALLY_FRAME" val="{&quot;height&quot;:277.2,&quot;left&quot;:57.6,&quot;top&quot;:132.48,&quot;width&quot;:784.8}"/>
</p:tagLst>
</file>

<file path=ppt/theme/theme1.xml><?xml version="1.0" encoding="utf-8"?>
<a:theme xmlns:a="http://schemas.openxmlformats.org/drawingml/2006/main" name="MedAI">
  <a:themeElements>
    <a:clrScheme name="MedAI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1E3A8A"/>
      </a:accent1>
      <a:accent2>
        <a:srgbClr val="059669"/>
      </a:accent2>
      <a:accent3>
        <a:srgbClr val="6D28D9"/>
      </a:accent3>
      <a:accent4>
        <a:srgbClr val="E11D48"/>
      </a:accent4>
      <a:accent5>
        <a:srgbClr val="F59E0B"/>
      </a:accent5>
      <a:accent6>
        <a:srgbClr val="64748B"/>
      </a:accent6>
      <a:hlink>
        <a:srgbClr val="2563EB"/>
      </a:hlink>
      <a:folHlink>
        <a:srgbClr val="6D28D9"/>
      </a:folHlink>
    </a:clrScheme>
    <a:fontScheme name="MedA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MedAI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1330</Words>
  <Application>WPS 演示</Application>
  <PresentationFormat>Widescreen</PresentationFormat>
  <Paragraphs>178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Calibri</vt:lpstr>
      <vt:lpstr>MedAI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MedAI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住院病历生成阶段性总结</dc:title>
  <dc:creator>Codex</dc:creator>
  <cp:lastModifiedBy>斯人若彩虹</cp:lastModifiedBy>
  <cp:revision>5</cp:revision>
  <dcterms:created xsi:type="dcterms:W3CDTF">2026-08-10T07:54:18Z</dcterms:created>
  <dcterms:modified xsi:type="dcterms:W3CDTF">2026-08-10T07:57:37Z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7E269A3D13A74715B03864035C81FD5C_12</vt:lpwstr>
  </property>
</Properties>
</file>