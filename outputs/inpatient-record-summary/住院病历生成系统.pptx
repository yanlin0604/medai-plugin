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orb1"/>
          <p:cNvSpPr/>
          <p:nvPr/>
        </p:nvSpPr>
        <p:spPr>
          <a:xfrm>
            <a:off x="7608570" y="188595"/>
            <a:ext cx="4297680" cy="42976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</p:sp>
      <p:sp>
        <p:nvSpPr>
          <p:cNvPr id="5" name="orb2"/>
          <p:cNvSpPr/>
          <p:nvPr/>
        </p:nvSpPr>
        <p:spPr>
          <a:xfrm>
            <a:off x="8256905" y="836930"/>
            <a:ext cx="2926080" cy="2926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6" name="title"/>
          <p:cNvSpPr/>
          <p:nvPr/>
        </p:nvSpPr>
        <p:spPr>
          <a:xfrm>
            <a:off x="658368" y="1225296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住院病历生成</a:t>
            </a:r>
            <a:endParaRPr lang="zh-CN" sz="3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3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阶段性总结</a:t>
            </a:r>
            <a:endParaRPr lang="zh-CN" sz="3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ubtitle"/>
          <p:cNvSpPr/>
          <p:nvPr/>
        </p:nvSpPr>
        <p:spPr>
          <a:xfrm>
            <a:off x="694944" y="246888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MedAI Plugin：AI 智能病历书写助手桌面插件</a:t>
            </a:r>
            <a:endParaRPr lang="zh-CN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date"/>
          <p:cNvSpPr/>
          <p:nvPr/>
        </p:nvSpPr>
        <p:spPr>
          <a:xfrm>
            <a:off x="713232" y="30906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阶段评审材料 · 2026年8月</a:t>
            </a:r>
            <a:endParaRPr lang="zh-CN" sz="11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quote"/>
          <p:cNvSpPr/>
          <p:nvPr/>
        </p:nvSpPr>
        <p:spPr>
          <a:xfrm>
            <a:off x="713232" y="5285232"/>
            <a:ext cx="96926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定位：围绕住院部医生真实工作流，把 EMR/HIS 数据、语音、AI 生成、医生审核和安全回写串成闭环。</a:t>
            </a:r>
            <a:endParaRPr lang="zh-CN" sz="13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MedAI Logo"/>
          <p:cNvPicPr/>
          <p:nvPr/>
        </p:nvPicPr>
        <p:blipFill>
          <a:blip r:embed="rId1"/>
          <a:stretch>
            <a:fillRect/>
          </a:stretch>
        </p:blipFill>
        <p:spPr>
          <a:xfrm>
            <a:off x="9100820" y="1627378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当前结论：从原型进入可演示闭环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不是单一文书生成器，而是按住院文书场景拆出的工作台体系。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metric"/>
          <p:cNvSpPr/>
          <p:nvPr/>
        </p:nvSpPr>
        <p:spPr>
          <a:xfrm>
            <a:off x="658368" y="1664208"/>
            <a:ext cx="2194560" cy="1325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31" name="metric_num"/>
          <p:cNvSpPr/>
          <p:nvPr/>
        </p:nvSpPr>
        <p:spPr>
          <a:xfrm>
            <a:off x="795528" y="1828800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15+</a:t>
            </a:r>
            <a:endParaRPr lang="zh-CN"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metric_label"/>
          <p:cNvSpPr/>
          <p:nvPr/>
        </p:nvSpPr>
        <p:spPr>
          <a:xfrm>
            <a:off x="822960" y="232257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文书类型配置覆盖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metric"/>
          <p:cNvSpPr/>
          <p:nvPr/>
        </p:nvSpPr>
        <p:spPr>
          <a:xfrm>
            <a:off x="3090672" y="1664208"/>
            <a:ext cx="2194560" cy="1325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41" name="metric_num"/>
          <p:cNvSpPr/>
          <p:nvPr/>
        </p:nvSpPr>
        <p:spPr>
          <a:xfrm>
            <a:off x="3227832" y="1828800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4类</a:t>
            </a:r>
            <a:endParaRPr lang="zh-CN" sz="24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metric_label"/>
          <p:cNvSpPr/>
          <p:nvPr/>
        </p:nvSpPr>
        <p:spPr>
          <a:xfrm>
            <a:off x="3255264" y="232257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交互范式沉淀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metric"/>
          <p:cNvSpPr/>
          <p:nvPr/>
        </p:nvSpPr>
        <p:spPr>
          <a:xfrm>
            <a:off x="5522976" y="1664208"/>
            <a:ext cx="2194560" cy="1325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51" name="metric_num"/>
          <p:cNvSpPr/>
          <p:nvPr/>
        </p:nvSpPr>
        <p:spPr>
          <a:xfrm>
            <a:off x="5660136" y="1828800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sz="24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metric_label"/>
          <p:cNvSpPr/>
          <p:nvPr/>
        </p:nvSpPr>
        <p:spPr>
          <a:xfrm>
            <a:off x="5687568" y="232257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生成-编辑-回写-版本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metric"/>
          <p:cNvSpPr/>
          <p:nvPr/>
        </p:nvSpPr>
        <p:spPr>
          <a:xfrm>
            <a:off x="7955280" y="1664208"/>
            <a:ext cx="2194560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</p:sp>
      <p:sp>
        <p:nvSpPr>
          <p:cNvPr id="61" name="metric_num"/>
          <p:cNvSpPr/>
          <p:nvPr/>
        </p:nvSpPr>
        <p:spPr>
          <a:xfrm>
            <a:off x="8092440" y="1828800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23个</a:t>
            </a:r>
            <a:endParaRPr lang="zh-CN" sz="24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metric_label"/>
          <p:cNvSpPr/>
          <p:nvPr/>
        </p:nvSpPr>
        <p:spPr>
          <a:xfrm>
            <a:off x="8119872" y="232257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核心单测文件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akeaway"/>
          <p:cNvSpPr/>
          <p:nvPr/>
        </p:nvSpPr>
        <p:spPr>
          <a:xfrm>
            <a:off x="685800" y="3456432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阶段性判断：出院记录、字段级生成助手和演示回写链路已经具备较完整的端到端体验；查房/手术语音、死亡记录边界页、证据引用与组合字段能力已经初步成型，但生产级 HIS/ASR/质控仍需继续对接和加固。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note1"/>
          <p:cNvSpPr/>
          <p:nvPr/>
        </p:nvSpPr>
        <p:spPr>
          <a:xfrm>
            <a:off x="914400" y="4809744"/>
            <a:ext cx="31546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可汇报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已有医生端工作台、模板驱动字段、草稿保存、历史版本、防串户提示。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note2"/>
          <p:cNvSpPr/>
          <p:nvPr/>
        </p:nvSpPr>
        <p:spPr>
          <a:xfrm>
            <a:off x="4343400" y="4809744"/>
            <a:ext cx="31546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可演示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出院整篇生成、字段重新生成、字段回填、查房实时路由。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note3"/>
          <p:cNvSpPr/>
          <p:nvPr/>
        </p:nvSpPr>
        <p:spPr>
          <a:xfrm>
            <a:off x="7772400" y="4809744"/>
            <a:ext cx="31546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需补齐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OCR</a:t>
            </a:r>
            <a:r>
              <a:rPr lang="zh-CN" altLang="en-US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识别，外院病历上传等功能。</a:t>
            </a:r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真实院内接口、稳定 ASR 服务、质控规则库、安装部署。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文书覆盖：按住院场景分组配置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源码中的文书注册表把文书、数据源、输入模式、时限和工作台路由解耦。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时限必填"/>
          <p:cNvSpPr/>
          <p:nvPr/>
        </p:nvSpPr>
        <p:spPr>
          <a:xfrm>
            <a:off x="658368" y="1664208"/>
            <a:ext cx="3401568" cy="370332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FFFF"/>
            </a:solidFill>
          </a:ln>
        </p:spPr>
      </p:sp>
      <p:sp>
        <p:nvSpPr>
          <p:cNvPr id="31" name="时限必填"/>
          <p:cNvSpPr/>
          <p:nvPr/>
        </p:nvSpPr>
        <p:spPr>
          <a:xfrm>
            <a:off x="822960" y="1847088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时限必填</a:t>
            </a:r>
            <a:endParaRPr lang="zh-CN" sz="15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987552" y="2395728"/>
            <a:ext cx="2743200" cy="23317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住院病案首页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入院记录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首次病程记录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日常病程记录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按需病程"/>
          <p:cNvSpPr/>
          <p:nvPr/>
        </p:nvSpPr>
        <p:spPr>
          <a:xfrm>
            <a:off x="4453128" y="1664208"/>
            <a:ext cx="3401568" cy="3703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41" name="按需病程"/>
          <p:cNvSpPr/>
          <p:nvPr/>
        </p:nvSpPr>
        <p:spPr>
          <a:xfrm>
            <a:off x="4617720" y="1847088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按需病程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4782312" y="2395728"/>
            <a:ext cx="2743200" cy="23317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主治医生查房记录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主治医生首次查房记录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疑难病例讨论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交接班 / 转科 / 阶段小结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会诊记录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临床事件"/>
          <p:cNvSpPr/>
          <p:nvPr/>
        </p:nvSpPr>
        <p:spPr>
          <a:xfrm>
            <a:off x="8247888" y="1664208"/>
            <a:ext cx="3401568" cy="3703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51" name="临床事件"/>
          <p:cNvSpPr/>
          <p:nvPr/>
        </p:nvSpPr>
        <p:spPr>
          <a:xfrm>
            <a:off x="8412480" y="1847088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临床事件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body"/>
          <p:cNvSpPr/>
          <p:nvPr/>
        </p:nvSpPr>
        <p:spPr>
          <a:xfrm>
            <a:off x="8577072" y="2395728"/>
            <a:ext cx="2743200" cy="23317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抢救记录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出院记录 / 出院小结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术前小结 / 手术记录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围术期记录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死亡记录 / 知情同意书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footer"/>
          <p:cNvSpPr/>
          <p:nvPr/>
        </p:nvSpPr>
        <p:spPr>
          <a:xfrm>
            <a:off x="685800" y="5687568"/>
            <a:ext cx="106527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覆盖方式不是把每类文书写死，而是以 docCode + paradigm + template 字段 schema 驱动；新增文书主要增加配置和模板。</a:t>
            </a:r>
            <a:endParaRPr lang="zh-CN" sz="12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交互范式：四种工作方式覆盖不同病历任务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不同文书的 AI 介入深度不一样，系统已经把它们拆成可复用范式。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tag"/>
          <p:cNvSpPr/>
          <p:nvPr/>
        </p:nvSpPr>
        <p:spPr>
          <a:xfrm>
            <a:off x="731520" y="1627632"/>
            <a:ext cx="2148840" cy="65836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系统自动汇总</a:t>
            </a:r>
            <a:endParaRPr lang="zh-CN" sz="14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body"/>
          <p:cNvSpPr/>
          <p:nvPr/>
        </p:nvSpPr>
        <p:spPr>
          <a:xfrm>
            <a:off x="3154680" y="1627632"/>
            <a:ext cx="7223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静默拉取 EMR/HIS/LIS/PACS，直接生成结构化草稿</a:t>
            </a:r>
            <a:endParaRPr lang="zh-CN"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ag"/>
          <p:cNvSpPr/>
          <p:nvPr/>
        </p:nvSpPr>
        <p:spPr>
          <a:xfrm>
            <a:off x="731520" y="2724912"/>
            <a:ext cx="2148840" cy="65836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事后多模态补录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body"/>
          <p:cNvSpPr/>
          <p:nvPr/>
        </p:nvSpPr>
        <p:spPr>
          <a:xfrm>
            <a:off x="3154680" y="2724912"/>
            <a:ext cx="7223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医嘱、检验、手动/语音补充后，由 AI 组装成稿</a:t>
            </a:r>
            <a:endParaRPr lang="zh-CN"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ag"/>
          <p:cNvSpPr/>
          <p:nvPr/>
        </p:nvSpPr>
        <p:spPr>
          <a:xfrm>
            <a:off x="731520" y="3822192"/>
            <a:ext cx="2148840" cy="65836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长录音互动</a:t>
            </a:r>
            <a:endParaRPr lang="zh-CN" sz="14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body"/>
          <p:cNvSpPr/>
          <p:nvPr/>
        </p:nvSpPr>
        <p:spPr>
          <a:xfrm>
            <a:off x="3154680" y="3822192"/>
            <a:ext cx="7223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床旁录音、ASR、患者路由、片段归属，再生成字段</a:t>
            </a:r>
            <a:endParaRPr lang="zh-CN"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ag"/>
          <p:cNvSpPr/>
          <p:nvPr/>
        </p:nvSpPr>
        <p:spPr>
          <a:xfrm>
            <a:off x="731520" y="4919472"/>
            <a:ext cx="2148840" cy="658368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AI 能力边界</a:t>
            </a:r>
            <a:endParaRPr lang="zh-CN" sz="14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body"/>
          <p:cNvSpPr/>
          <p:nvPr/>
        </p:nvSpPr>
        <p:spPr>
          <a:xfrm>
            <a:off x="3154680" y="4919472"/>
            <a:ext cx="7223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死亡记录等高风险场景：AI 只做格式整理，强制人工审核</a:t>
            </a:r>
            <a:endParaRPr lang="zh-CN"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side"/>
          <p:cNvSpPr/>
          <p:nvPr/>
        </p:nvSpPr>
        <p:spPr>
          <a:xfrm>
            <a:off x="10607040" y="1572768"/>
            <a:ext cx="16459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91" name="side_text"/>
          <p:cNvSpPr/>
          <p:nvPr/>
        </p:nvSpPr>
        <p:spPr>
          <a:xfrm>
            <a:off x="10881360" y="1938528"/>
            <a:ext cx="512064" cy="379476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可配置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可路由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可扩展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病历生成链路：从资料到回写形成闭环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核心链路已经具备工程骨架，后端运行时负责模板、值生成、证据和版本。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step"/>
          <p:cNvSpPr/>
          <p:nvPr/>
        </p:nvSpPr>
        <p:spPr>
          <a:xfrm>
            <a:off x="640080" y="1828800"/>
            <a:ext cx="1901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num"/>
          <p:cNvSpPr/>
          <p:nvPr/>
        </p:nvSpPr>
        <p:spPr>
          <a:xfrm>
            <a:off x="804672" y="1975104"/>
            <a:ext cx="384048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itle"/>
          <p:cNvSpPr/>
          <p:nvPr/>
        </p:nvSpPr>
        <p:spPr>
          <a:xfrm>
            <a:off x="804672" y="248716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资料接入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body"/>
          <p:cNvSpPr/>
          <p:nvPr/>
        </p:nvSpPr>
        <p:spPr>
          <a:xfrm>
            <a:off x="822960" y="2834640"/>
            <a:ext cx="15361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HIS / EMR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LIS / PACS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ASR / 医嘱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0" name="connector"/>
          <p:cNvCxnSpPr/>
          <p:nvPr/>
        </p:nvCxnSpPr>
        <p:spPr>
          <a:xfrm>
            <a:off x="2560320" y="2615184"/>
            <a:ext cx="329184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40" name="step"/>
          <p:cNvSpPr/>
          <p:nvPr/>
        </p:nvSpPr>
        <p:spPr>
          <a:xfrm>
            <a:off x="2907792" y="1828800"/>
            <a:ext cx="1901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num"/>
          <p:cNvSpPr/>
          <p:nvPr/>
        </p:nvSpPr>
        <p:spPr>
          <a:xfrm>
            <a:off x="3072384" y="1975104"/>
            <a:ext cx="384048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itle"/>
          <p:cNvSpPr/>
          <p:nvPr/>
        </p:nvSpPr>
        <p:spPr>
          <a:xfrm>
            <a:off x="3072384" y="248716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模板驱动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body"/>
          <p:cNvSpPr/>
          <p:nvPr/>
        </p:nvSpPr>
        <p:spPr>
          <a:xfrm>
            <a:off x="3090672" y="2834640"/>
            <a:ext cx="15361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docCode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字段 schema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组合模板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connector"/>
          <p:cNvCxnSpPr/>
          <p:nvPr/>
        </p:nvCxnSpPr>
        <p:spPr>
          <a:xfrm>
            <a:off x="4828032" y="2615184"/>
            <a:ext cx="329184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50" name="step"/>
          <p:cNvSpPr/>
          <p:nvPr/>
        </p:nvSpPr>
        <p:spPr>
          <a:xfrm>
            <a:off x="5175504" y="1828800"/>
            <a:ext cx="1901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num"/>
          <p:cNvSpPr/>
          <p:nvPr/>
        </p:nvSpPr>
        <p:spPr>
          <a:xfrm>
            <a:off x="5340096" y="1975104"/>
            <a:ext cx="384048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itle"/>
          <p:cNvSpPr/>
          <p:nvPr/>
        </p:nvSpPr>
        <p:spPr>
          <a:xfrm>
            <a:off x="5340096" y="248716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AI 生成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body"/>
          <p:cNvSpPr/>
          <p:nvPr/>
        </p:nvSpPr>
        <p:spPr>
          <a:xfrm>
            <a:off x="5358384" y="2834640"/>
            <a:ext cx="15361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整篇生成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单字段生成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选区改写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connector"/>
          <p:cNvCxnSpPr/>
          <p:nvPr/>
        </p:nvCxnSpPr>
        <p:spPr>
          <a:xfrm>
            <a:off x="7095744" y="2615184"/>
            <a:ext cx="329184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60" name="step"/>
          <p:cNvSpPr/>
          <p:nvPr/>
        </p:nvSpPr>
        <p:spPr>
          <a:xfrm>
            <a:off x="7443216" y="1828800"/>
            <a:ext cx="1901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num"/>
          <p:cNvSpPr/>
          <p:nvPr/>
        </p:nvSpPr>
        <p:spPr>
          <a:xfrm>
            <a:off x="7607808" y="1975104"/>
            <a:ext cx="384048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itle"/>
          <p:cNvSpPr/>
          <p:nvPr/>
        </p:nvSpPr>
        <p:spPr>
          <a:xfrm>
            <a:off x="7607808" y="248716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医生审核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body"/>
          <p:cNvSpPr/>
          <p:nvPr/>
        </p:nvSpPr>
        <p:spPr>
          <a:xfrm>
            <a:off x="7626096" y="2834640"/>
            <a:ext cx="15361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纸面预览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段落编辑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证据引用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connector"/>
          <p:cNvCxnSpPr/>
          <p:nvPr/>
        </p:nvCxnSpPr>
        <p:spPr>
          <a:xfrm>
            <a:off x="9363456" y="2615184"/>
            <a:ext cx="329184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70" name="step"/>
          <p:cNvSpPr/>
          <p:nvPr/>
        </p:nvSpPr>
        <p:spPr>
          <a:xfrm>
            <a:off x="9710928" y="1828800"/>
            <a:ext cx="1901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1" name="num"/>
          <p:cNvSpPr/>
          <p:nvPr/>
        </p:nvSpPr>
        <p:spPr>
          <a:xfrm>
            <a:off x="9875520" y="1975104"/>
            <a:ext cx="384048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itle"/>
          <p:cNvSpPr/>
          <p:nvPr/>
        </p:nvSpPr>
        <p:spPr>
          <a:xfrm>
            <a:off x="9875520" y="248716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安全回写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body"/>
          <p:cNvSpPr/>
          <p:nvPr/>
        </p:nvSpPr>
        <p:spPr>
          <a:xfrm>
            <a:off x="9893808" y="2834640"/>
            <a:ext cx="15361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防串户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字段回填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版本快照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principle"/>
          <p:cNvSpPr/>
          <p:nvPr/>
        </p:nvSpPr>
        <p:spPr>
          <a:xfrm>
            <a:off x="749808" y="4434840"/>
            <a:ext cx="106070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关键设计原则：前端不固定病历字段，依赖后台模板和值生成接口；正文与结构化字段同源，提交时同时生成可回写字段、完整正文和历史版本。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入院 / 出院记录：当前最完整的成稿工作台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两类高频文书已具备整篇生成、字段编辑、回写和版本能力。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card"/>
          <p:cNvSpPr/>
          <p:nvPr/>
        </p:nvSpPr>
        <p:spPr>
          <a:xfrm>
            <a:off x="749808" y="1673352"/>
            <a:ext cx="5120640" cy="16002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</p:sp>
      <p:sp>
        <p:nvSpPr>
          <p:cNvPr id="31" name="title"/>
          <p:cNvSpPr/>
          <p:nvPr/>
        </p:nvSpPr>
        <p:spPr>
          <a:xfrm>
            <a:off x="1005840" y="1837944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入院记录</a:t>
            </a:r>
            <a:endParaRPr lang="zh-CN" sz="17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1005840" y="2276856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语音候选自动填字段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支持新住院临时信息采纳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整篇生成与单字段重生成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F8 / 一键回填正式提交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"/>
          <p:cNvSpPr/>
          <p:nvPr/>
        </p:nvSpPr>
        <p:spPr>
          <a:xfrm>
            <a:off x="749808" y="3730752"/>
            <a:ext cx="5120640" cy="1600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41" name="title"/>
          <p:cNvSpPr/>
          <p:nvPr/>
        </p:nvSpPr>
        <p:spPr>
          <a:xfrm>
            <a:off x="1005840" y="3895344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出院记录</a:t>
            </a:r>
            <a:endParaRPr lang="zh-CN" sz="17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1005840" y="4334256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运行时模板严格对接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入院/出院日期与住院天数联动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重新生成全部或单段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纸面预览、通读、历史版本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maturity"/>
          <p:cNvSpPr/>
          <p:nvPr/>
        </p:nvSpPr>
        <p:spPr>
          <a:xfrm>
            <a:off x="6400800" y="1664208"/>
            <a:ext cx="4389120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1" name="m_title"/>
          <p:cNvSpPr/>
          <p:nvPr/>
        </p:nvSpPr>
        <p:spPr>
          <a:xfrm>
            <a:off x="6629400" y="190195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成熟能力清单</a:t>
            </a:r>
            <a:endParaRPr lang="zh-CN" sz="16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m_body"/>
          <p:cNvSpPr/>
          <p:nvPr/>
        </p:nvSpPr>
        <p:spPr>
          <a:xfrm>
            <a:off x="6720840" y="2487168"/>
            <a:ext cx="3749040" cy="214884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后端模板 + 字段值渐进加载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草稿自动保存与恢复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必填校验和提交确认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历史版本与变更摘要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防串户锁定与解锁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字段级重新生成与正文编辑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字段级助手：从“整篇生成”下沉到当前字段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适合医生在 HIS/CS 端逐字段编辑时调用，减少覆盖整篇带来的风险。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left"/>
          <p:cNvSpPr/>
          <p:nvPr/>
        </p:nvSpPr>
        <p:spPr>
          <a:xfrm>
            <a:off x="713232" y="1645920"/>
            <a:ext cx="32461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触发上下文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当前患者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当前文书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当前字段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选中文本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医生/科室</a:t>
            </a:r>
            <a:endParaRPr lang="zh-CN"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"/>
          <p:cNvCxnSpPr/>
          <p:nvPr/>
        </p:nvCxnSpPr>
        <p:spPr>
          <a:xfrm>
            <a:off x="4041648" y="3383280"/>
            <a:ext cx="530352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40" name="mid"/>
          <p:cNvSpPr/>
          <p:nvPr/>
        </p:nvSpPr>
        <p:spPr>
          <a:xfrm>
            <a:off x="4617720" y="1645920"/>
            <a:ext cx="3246120" cy="34747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生成策略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空字段生成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已有内容追加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选区改写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组合子项生成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证据引用编号</a:t>
            </a:r>
            <a:endParaRPr lang="zh-CN"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connector"/>
          <p:cNvCxnSpPr/>
          <p:nvPr/>
        </p:nvCxnSpPr>
        <p:spPr>
          <a:xfrm>
            <a:off x="7955280" y="3383280"/>
            <a:ext cx="530352" cy="0"/>
          </a:xfrm>
          <a:prstGeom prst="straightConnector1">
            <a:avLst/>
          </a:prstGeom>
          <a:ln w="25400">
            <a:solidFill>
              <a:srgbClr val="1E3A8A"/>
            </a:solidFill>
            <a:headEnd type="triangle"/>
            <a:tailEnd type="none"/>
          </a:ln>
        </p:spPr>
      </p:cxnSp>
      <p:sp>
        <p:nvSpPr>
          <p:cNvPr id="50" name="right"/>
          <p:cNvSpPr/>
          <p:nvPr/>
        </p:nvSpPr>
        <p:spPr>
          <a:xfrm>
            <a:off x="8549640" y="1645920"/>
            <a:ext cx="2788920" cy="34747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回填策略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填充 / 追加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覆盖选区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字段写回审计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患者文书一致性校验</a:t>
            </a:r>
            <a:endParaRPr 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bottom"/>
          <p:cNvSpPr/>
          <p:nvPr/>
        </p:nvSpPr>
        <p:spPr>
          <a:xfrm>
            <a:off x="777240" y="5577840"/>
            <a:ext cx="1033272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组合字段已经支持“固定项 / 手工项 / AI 项”拆分，出院医嘱等复杂字段可按模板逐项生成、预览并统一回填。</a:t>
            </a:r>
            <a:endParaRPr lang="zh-CN" sz="12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语音驱动场景：查房、入院、手术三条线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语音能力已进入业务流，但依赖外部 ASR/字段抽取服务的稳定接入。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label"/>
          <p:cNvSpPr/>
          <p:nvPr/>
        </p:nvSpPr>
        <p:spPr>
          <a:xfrm>
            <a:off x="749808" y="1627632"/>
            <a:ext cx="1828800" cy="8229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6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入院语音</a:t>
            </a:r>
            <a:endParaRPr lang="zh-CN" sz="16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body"/>
          <p:cNvSpPr/>
          <p:nvPr/>
        </p:nvSpPr>
        <p:spPr>
          <a:xfrm>
            <a:off x="2834640" y="1627632"/>
            <a:ext cx="8001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ASR + 字段抽取候选，自动写入入院记录段落；新患者可先采纳临时建档信息。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label"/>
          <p:cNvSpPr/>
          <p:nvPr/>
        </p:nvSpPr>
        <p:spPr>
          <a:xfrm>
            <a:off x="749808" y="2953512"/>
            <a:ext cx="18288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病区查房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body"/>
          <p:cNvSpPr/>
          <p:nvPr/>
        </p:nvSpPr>
        <p:spPr>
          <a:xfrm>
            <a:off x="2834640" y="2953512"/>
            <a:ext cx="8001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全病区连续录音，按床号/姓名路由到患者，结束后沉淀查房片段供病程字段生成。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label"/>
          <p:cNvSpPr/>
          <p:nvPr/>
        </p:nvSpPr>
        <p:spPr>
          <a:xfrm>
            <a:off x="749808" y="4279392"/>
            <a:ext cx="182880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6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手术记录</a:t>
            </a:r>
            <a:endParaRPr lang="zh-CN" sz="16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body"/>
          <p:cNvSpPr/>
          <p:nvPr/>
        </p:nvSpPr>
        <p:spPr>
          <a:xfrm>
            <a:off x="2834640" y="4279392"/>
            <a:ext cx="8001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多段录音分片上传、合并后转写，再由 AI 拆成手术日期、名称、经过、术后诊断等字段。</a:t>
            </a:r>
            <a:endParaRPr lang="zh-CN" sz="13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warn"/>
          <p:cNvSpPr/>
          <p:nvPr/>
        </p:nvSpPr>
        <p:spPr>
          <a:xfrm>
            <a:off x="786384" y="5596128"/>
            <a:ext cx="10424160" cy="42062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阶段边界：浏览器 MediaRecorder 与 WebSocket 流已接入业务页面；Tauri Rust 层的原生 CPAL 录音命令仍以占位为主。</a:t>
            </a:r>
            <a:endParaRPr lang="zh-CN" sz="120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质量、安全与回写：已形成闭环意识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项目已经把医疗文书最关键的“可控、可追溯、不错患”放入主流程。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cell"/>
          <p:cNvSpPr/>
          <p:nvPr/>
        </p:nvSpPr>
        <p:spPr>
          <a:xfrm>
            <a:off x="658368" y="157276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title"/>
          <p:cNvSpPr/>
          <p:nvPr/>
        </p:nvSpPr>
        <p:spPr>
          <a:xfrm>
            <a:off x="822960" y="171907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医生审核优先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841248" y="20848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生成后进入段落编辑、纸面预览、提交确认；死亡记录不生成核心结论。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ell"/>
          <p:cNvSpPr/>
          <p:nvPr/>
        </p:nvSpPr>
        <p:spPr>
          <a:xfrm>
            <a:off x="4407408" y="157276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title"/>
          <p:cNvSpPr/>
          <p:nvPr/>
        </p:nvSpPr>
        <p:spPr>
          <a:xfrm>
            <a:off x="4572000" y="171907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防串户锁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4590288" y="20848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宿主系统活动患者切换时锁定提交、重生成和资料插入。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cell"/>
          <p:cNvSpPr/>
          <p:nvPr/>
        </p:nvSpPr>
        <p:spPr>
          <a:xfrm>
            <a:off x="8156448" y="157276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title"/>
          <p:cNvSpPr/>
          <p:nvPr/>
        </p:nvSpPr>
        <p:spPr>
          <a:xfrm>
            <a:off x="8321040" y="171907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证据引用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body"/>
          <p:cNvSpPr/>
          <p:nvPr/>
        </p:nvSpPr>
        <p:spPr>
          <a:xfrm>
            <a:off x="8339328" y="20848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字段生成可带 evidenceSummary，组合字段支持统一证据编号预览。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cell"/>
          <p:cNvSpPr/>
          <p:nvPr/>
        </p:nvSpPr>
        <p:spPr>
          <a:xfrm>
            <a:off x="658368" y="344728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title"/>
          <p:cNvSpPr/>
          <p:nvPr/>
        </p:nvSpPr>
        <p:spPr>
          <a:xfrm>
            <a:off x="822960" y="35935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回写闭环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body"/>
          <p:cNvSpPr/>
          <p:nvPr/>
        </p:nvSpPr>
        <p:spPr>
          <a:xfrm>
            <a:off x="841248" y="395935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支持 BS 演示 inbox、CS HTTP 字段回填、全文字段顺序载荷。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cell"/>
          <p:cNvSpPr/>
          <p:nvPr/>
        </p:nvSpPr>
        <p:spPr>
          <a:xfrm>
            <a:off x="4407408" y="344728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1" name="title"/>
          <p:cNvSpPr/>
          <p:nvPr/>
        </p:nvSpPr>
        <p:spPr>
          <a:xfrm>
            <a:off x="4572000" y="35935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版本留痕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body"/>
          <p:cNvSpPr/>
          <p:nvPr/>
        </p:nvSpPr>
        <p:spPr>
          <a:xfrm>
            <a:off x="4590288" y="395935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提交后创建历史版本，保存正文、字段、字段顺序和变更摘要。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cell"/>
          <p:cNvSpPr/>
          <p:nvPr/>
        </p:nvSpPr>
        <p:spPr>
          <a:xfrm>
            <a:off x="8156448" y="3447288"/>
            <a:ext cx="32461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81" name="title"/>
          <p:cNvSpPr/>
          <p:nvPr/>
        </p:nvSpPr>
        <p:spPr>
          <a:xfrm>
            <a:off x="8321040" y="3593592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测试覆盖</a:t>
            </a:r>
            <a:endParaRPr lang="zh-CN"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body"/>
          <p:cNvSpPr/>
          <p:nvPr/>
        </p:nvSpPr>
        <p:spPr>
          <a:xfrm>
            <a:off x="8339328" y="395935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23 个单测文件覆盖运行时、字段助手、证据、查房、版本和 UI 编辑组件。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env"/>
          <p:cNvSpPr/>
          <p:nvPr/>
        </p:nvSpPr>
        <p:spPr>
          <a:xfrm>
            <a:off x="749808" y="5559552"/>
            <a:ext cx="1037844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本次环境限制：当前 shell 找不到 npm/node，单测未能现场执行；测试覆盖数量来自仓库测试文件清单。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下一阶段：从演示闭环走向院内部署闭环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重点不再是“能否生成”，而是“真实系统中能否稳定、合规、可追溯地使用”。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lane"/>
          <p:cNvSpPr/>
          <p:nvPr/>
        </p:nvSpPr>
        <p:spPr>
          <a:xfrm>
            <a:off x="713232" y="1664208"/>
            <a:ext cx="2395728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title"/>
          <p:cNvSpPr/>
          <p:nvPr/>
        </p:nvSpPr>
        <p:spPr>
          <a:xfrm>
            <a:off x="914400" y="1901952"/>
            <a:ext cx="1993392" cy="32918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接口落地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969264" y="2542032"/>
            <a:ext cx="1874520" cy="160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真实 HIS/EMR 患者上下文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LIS/PACS/医嘱资料源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病案首页费用/诊断/签名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lane"/>
          <p:cNvSpPr/>
          <p:nvPr/>
        </p:nvSpPr>
        <p:spPr>
          <a:xfrm>
            <a:off x="3529584" y="1664208"/>
            <a:ext cx="2395728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title"/>
          <p:cNvSpPr/>
          <p:nvPr/>
        </p:nvSpPr>
        <p:spPr>
          <a:xfrm>
            <a:off x="3730752" y="1901952"/>
            <a:ext cx="1993392" cy="32918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AI 能力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3785616" y="2542032"/>
            <a:ext cx="1874520" cy="160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稳定 ASR 与字段抽取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质控规则库与评分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ICD 推荐与术语规范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lane"/>
          <p:cNvSpPr/>
          <p:nvPr/>
        </p:nvSpPr>
        <p:spPr>
          <a:xfrm>
            <a:off x="6345936" y="1664208"/>
            <a:ext cx="2395728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title"/>
          <p:cNvSpPr/>
          <p:nvPr/>
        </p:nvSpPr>
        <p:spPr>
          <a:xfrm>
            <a:off x="6547104" y="1901952"/>
            <a:ext cx="1993392" cy="32918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工程交付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body"/>
          <p:cNvSpPr/>
          <p:nvPr/>
        </p:nvSpPr>
        <p:spPr>
          <a:xfrm>
            <a:off x="6601968" y="2542032"/>
            <a:ext cx="1874520" cy="160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Tauri 原生录音补齐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E2E 与回归测试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安装包、更新、安全策略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lane"/>
          <p:cNvSpPr/>
          <p:nvPr/>
        </p:nvSpPr>
        <p:spPr>
          <a:xfrm>
            <a:off x="9162288" y="1664208"/>
            <a:ext cx="2395728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title"/>
          <p:cNvSpPr/>
          <p:nvPr/>
        </p:nvSpPr>
        <p:spPr>
          <a:xfrm>
            <a:off x="9363456" y="1901952"/>
            <a:ext cx="1993392" cy="32918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试点运营</a:t>
            </a:r>
            <a:endParaRPr lang="zh-CN" sz="1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body"/>
          <p:cNvSpPr/>
          <p:nvPr/>
        </p:nvSpPr>
        <p:spPr>
          <a:xfrm>
            <a:off x="9418320" y="2542032"/>
            <a:ext cx="1874520" cy="160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科室模板分级配置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医生反馈闭环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场景日志与效果指标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summary"/>
          <p:cNvSpPr/>
          <p:nvPr/>
        </p:nvSpPr>
        <p:spPr>
          <a:xfrm>
            <a:off x="822960" y="5687568"/>
            <a:ext cx="10149840" cy="457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建议阶段目标：选择 2-3 个高频文书（入院记录、出院记录、日常/查房病程）做真实接口试点，形成可度量闭环。</a:t>
            </a:r>
            <a:endParaRPr lang="zh-CN" sz="13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I">
  <a:themeElements>
    <a:clrScheme name="MedAI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1E3A8A"/>
      </a:accent1>
      <a:accent2>
        <a:srgbClr val="059669"/>
      </a:accent2>
      <a:accent3>
        <a:srgbClr val="6D28D9"/>
      </a:accent3>
      <a:accent4>
        <a:srgbClr val="E11D48"/>
      </a:accent4>
      <a:accent5>
        <a:srgbClr val="F59E0B"/>
      </a:accent5>
      <a:accent6>
        <a:srgbClr val="64748B"/>
      </a:accent6>
      <a:hlink>
        <a:srgbClr val="2563EB"/>
      </a:hlink>
      <a:folHlink>
        <a:srgbClr val="6D28D9"/>
      </a:folHlink>
    </a:clrScheme>
    <a:fontScheme name="MedA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MedAI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WPS 演示</Application>
  <PresentationFormat>Widescreen</PresentationFormat>
  <Paragraphs>291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MedAI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MedAI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住院病历生成阶段性总结</dc:title>
  <dc:creator>Codex</dc:creator>
  <cp:lastModifiedBy>斯人若彩虹</cp:lastModifiedBy>
  <cp:revision>10</cp:revision>
  <dcterms:created xsi:type="dcterms:W3CDTF">2026-08-10T03:16:00Z</dcterms:created>
  <dcterms:modified xsi:type="dcterms:W3CDTF">2026-08-10T07:27:50Z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51E0C84A90CF47649DDAF86F53873AD2_12</vt:lpwstr>
  </property>
</Properties>
</file>